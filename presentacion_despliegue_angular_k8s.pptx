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62" r:id="rId3"/>
    <p:sldId id="263" r:id="rId4"/>
    <p:sldId id="264" r:id="rId5"/>
    <p:sldId id="266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44"/>
  </p:normalViewPr>
  <p:slideViewPr>
    <p:cSldViewPr snapToGrid="0" snapToObjects="1">
      <p:cViewPr varScale="1">
        <p:scale>
          <a:sx n="111" d="100"/>
          <a:sy n="111" d="100"/>
        </p:scale>
        <p:origin x="108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61769-2C80-E3D3-6D54-9CE16F707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55B9BCC-B1E9-E821-D1B5-FBEE6117246C}"/>
              </a:ext>
            </a:extLst>
          </p:cNvPr>
          <p:cNvSpPr/>
          <p:nvPr/>
        </p:nvSpPr>
        <p:spPr>
          <a:xfrm>
            <a:off x="685800" y="713232"/>
            <a:ext cx="1234440" cy="320040"/>
          </a:xfrm>
          <a:prstGeom prst="roundRect">
            <a:avLst/>
          </a:prstGeom>
          <a:solidFill>
            <a:srgbClr val="DD0031"/>
          </a:solidFill>
          <a:ln>
            <a:solidFill>
              <a:srgbClr val="DD0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D0A052-9004-16E2-069C-819489E0AD64}"/>
              </a:ext>
            </a:extLst>
          </p:cNvPr>
          <p:cNvSpPr txBox="1"/>
          <p:nvPr/>
        </p:nvSpPr>
        <p:spPr>
          <a:xfrm>
            <a:off x="685800" y="749808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ANGULAR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38A2E3-4EA3-1EC9-D64B-2E9F2BDB1B2D}"/>
              </a:ext>
            </a:extLst>
          </p:cNvPr>
          <p:cNvSpPr txBox="1"/>
          <p:nvPr/>
        </p:nvSpPr>
        <p:spPr>
          <a:xfrm>
            <a:off x="2240280" y="457753"/>
            <a:ext cx="89893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 err="1">
                <a:solidFill>
                  <a:srgbClr val="0F172A"/>
                </a:solidFill>
                <a:latin typeface="Aptos Display"/>
              </a:rPr>
              <a:t>Despliegue</a:t>
            </a:r>
            <a:r>
              <a:rPr sz="3000" b="1" dirty="0">
                <a:solidFill>
                  <a:srgbClr val="0F172A"/>
                </a:solidFill>
                <a:latin typeface="Aptos Display"/>
              </a:rPr>
              <a:t> de Angular</a:t>
            </a:r>
          </a:p>
          <a:p>
            <a:r>
              <a:rPr lang="es-ES" sz="1800" dirty="0">
                <a:solidFill>
                  <a:srgbClr val="475569"/>
                </a:solidFill>
                <a:latin typeface="Aptos"/>
              </a:rPr>
              <a:t>H</a:t>
            </a:r>
            <a:r>
              <a:rPr sz="1800" dirty="0" err="1">
                <a:solidFill>
                  <a:srgbClr val="475569"/>
                </a:solidFill>
                <a:latin typeface="Aptos"/>
              </a:rPr>
              <a:t>osting</a:t>
            </a:r>
            <a:r>
              <a:rPr sz="1800" dirty="0">
                <a:solidFill>
                  <a:srgbClr val="475569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475569"/>
                </a:solidFill>
                <a:latin typeface="Aptos"/>
              </a:rPr>
              <a:t>tradicional</a:t>
            </a:r>
            <a:endParaRPr sz="1800" dirty="0">
              <a:solidFill>
                <a:srgbClr val="475569"/>
              </a:solidFill>
              <a:latin typeface="Apto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D523C8F-7B48-CC10-57FE-4856AFBE8953}"/>
              </a:ext>
            </a:extLst>
          </p:cNvPr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BE1F64-C6BF-A2E2-06EA-326DCFC2DC3E}"/>
              </a:ext>
            </a:extLst>
          </p:cNvPr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  <a:latin typeface="Aptos"/>
              </a:rPr>
              <a:t>Angular • Apache/Nginx • Docker • Kubernetes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73C91F9-F5AD-0D34-A741-BA8A0D962C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304"/>
          <a:stretch>
            <a:fillRect/>
          </a:stretch>
        </p:blipFill>
        <p:spPr>
          <a:xfrm>
            <a:off x="2018923" y="2000419"/>
            <a:ext cx="8363567" cy="370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64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9F9F6-4905-ABBB-CF55-6D8CFF746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6E74F03-689A-33C7-0B93-7AB5E6C6A177}"/>
              </a:ext>
            </a:extLst>
          </p:cNvPr>
          <p:cNvSpPr/>
          <p:nvPr/>
        </p:nvSpPr>
        <p:spPr>
          <a:xfrm>
            <a:off x="685800" y="713232"/>
            <a:ext cx="1234440" cy="320040"/>
          </a:xfrm>
          <a:prstGeom prst="roundRect">
            <a:avLst/>
          </a:prstGeom>
          <a:solidFill>
            <a:srgbClr val="DD0031"/>
          </a:solidFill>
          <a:ln>
            <a:solidFill>
              <a:srgbClr val="DD0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64E509-2829-5190-4024-4EA48B4F4441}"/>
              </a:ext>
            </a:extLst>
          </p:cNvPr>
          <p:cNvSpPr txBox="1"/>
          <p:nvPr/>
        </p:nvSpPr>
        <p:spPr>
          <a:xfrm>
            <a:off x="685800" y="749808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ANGULAR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B288B4-D9E8-7D64-275C-E9B880937823}"/>
              </a:ext>
            </a:extLst>
          </p:cNvPr>
          <p:cNvSpPr txBox="1"/>
          <p:nvPr/>
        </p:nvSpPr>
        <p:spPr>
          <a:xfrm>
            <a:off x="2240280" y="457753"/>
            <a:ext cx="89893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 err="1">
                <a:solidFill>
                  <a:srgbClr val="0F172A"/>
                </a:solidFill>
                <a:latin typeface="Aptos Display"/>
              </a:rPr>
              <a:t>Despliegue</a:t>
            </a:r>
            <a:r>
              <a:rPr sz="3000" b="1" dirty="0">
                <a:solidFill>
                  <a:srgbClr val="0F172A"/>
                </a:solidFill>
                <a:latin typeface="Aptos Display"/>
              </a:rPr>
              <a:t> de Angular</a:t>
            </a:r>
          </a:p>
          <a:p>
            <a:r>
              <a:rPr lang="es-ES" sz="1800" dirty="0">
                <a:solidFill>
                  <a:srgbClr val="475569"/>
                </a:solidFill>
                <a:latin typeface="Aptos"/>
              </a:rPr>
              <a:t>Despliegue </a:t>
            </a:r>
            <a:r>
              <a:rPr sz="1800" dirty="0" err="1">
                <a:solidFill>
                  <a:srgbClr val="475569"/>
                </a:solidFill>
                <a:latin typeface="Aptos"/>
              </a:rPr>
              <a:t>moderno</a:t>
            </a:r>
            <a:r>
              <a:rPr sz="1800" dirty="0">
                <a:solidFill>
                  <a:srgbClr val="475569"/>
                </a:solidFill>
                <a:latin typeface="Aptos"/>
              </a:rPr>
              <a:t> con Docker y Kubernetes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4AE8884-8963-6300-1FD4-D5D34C18A16D}"/>
              </a:ext>
            </a:extLst>
          </p:cNvPr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9C0E25-3C01-C877-73B5-0183CEA4BE9B}"/>
              </a:ext>
            </a:extLst>
          </p:cNvPr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  <a:latin typeface="Aptos"/>
              </a:rPr>
              <a:t>Angular • Apache/Nginx • Docker • Kubernetes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22F0EEC-8EA7-D824-1F43-C11B8621B5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8514"/>
          <a:stretch>
            <a:fillRect/>
          </a:stretch>
        </p:blipFill>
        <p:spPr>
          <a:xfrm>
            <a:off x="542187" y="1859925"/>
            <a:ext cx="11107626" cy="313815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A1DBF46-14A5-EC3D-FED4-71CE9BBC62A1}"/>
              </a:ext>
            </a:extLst>
          </p:cNvPr>
          <p:cNvSpPr txBox="1"/>
          <p:nvPr/>
        </p:nvSpPr>
        <p:spPr>
          <a:xfrm>
            <a:off x="1552668" y="5750737"/>
            <a:ext cx="1131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 err="1"/>
              <a:t>Dockerfile</a:t>
            </a:r>
            <a:endParaRPr lang="es-CO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B2805FEB-E061-21C9-96BB-A8CD4C83A154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2118176" y="4076393"/>
            <a:ext cx="0" cy="16743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7002CC3-96B7-45AE-7C7F-76D1D6257468}"/>
              </a:ext>
            </a:extLst>
          </p:cNvPr>
          <p:cNvSpPr txBox="1"/>
          <p:nvPr/>
        </p:nvSpPr>
        <p:spPr>
          <a:xfrm>
            <a:off x="7339489" y="5750737"/>
            <a:ext cx="1836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 err="1"/>
              <a:t>Deployment.yaml</a:t>
            </a:r>
            <a:endParaRPr lang="es-CO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B82974A7-9598-4FC1-932E-85C83C15D373}"/>
              </a:ext>
            </a:extLst>
          </p:cNvPr>
          <p:cNvCxnSpPr>
            <a:cxnSpLocks/>
          </p:cNvCxnSpPr>
          <p:nvPr/>
        </p:nvCxnSpPr>
        <p:spPr>
          <a:xfrm>
            <a:off x="8277827" y="4998075"/>
            <a:ext cx="0" cy="7955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0BEAB81-EDC5-559F-40C5-CCA0A5616BDF}"/>
              </a:ext>
            </a:extLst>
          </p:cNvPr>
          <p:cNvSpPr txBox="1"/>
          <p:nvPr/>
        </p:nvSpPr>
        <p:spPr>
          <a:xfrm>
            <a:off x="3016174" y="5773844"/>
            <a:ext cx="3114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.</a:t>
            </a:r>
            <a:r>
              <a:rPr lang="es-CO" dirty="0" err="1"/>
              <a:t>github</a:t>
            </a:r>
            <a:r>
              <a:rPr lang="es-CO" dirty="0"/>
              <a:t>/</a:t>
            </a:r>
            <a:r>
              <a:rPr lang="es-CO" dirty="0" err="1"/>
              <a:t>workflows</a:t>
            </a:r>
            <a:r>
              <a:rPr lang="es-CO" dirty="0"/>
              <a:t>/</a:t>
            </a:r>
            <a:r>
              <a:rPr lang="es-CO" dirty="0" err="1"/>
              <a:t>deploy.yml</a:t>
            </a:r>
            <a:endParaRPr lang="es-CO" dirty="0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8CBB5719-6C6A-05EA-18FC-BFE0D426534A}"/>
              </a:ext>
            </a:extLst>
          </p:cNvPr>
          <p:cNvCxnSpPr>
            <a:cxnSpLocks/>
          </p:cNvCxnSpPr>
          <p:nvPr/>
        </p:nvCxnSpPr>
        <p:spPr>
          <a:xfrm>
            <a:off x="4433381" y="4019706"/>
            <a:ext cx="0" cy="16743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4616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57790-B38E-A979-1942-811C49013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81C154-68D6-F50C-C192-84115526F142}"/>
              </a:ext>
            </a:extLst>
          </p:cNvPr>
          <p:cNvSpPr txBox="1"/>
          <p:nvPr/>
        </p:nvSpPr>
        <p:spPr>
          <a:xfrm>
            <a:off x="548640" y="320040"/>
            <a:ext cx="21258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F172A"/>
                </a:solidFill>
                <a:latin typeface="Aptos Display"/>
              </a:rPr>
              <a:t>1. </a:t>
            </a:r>
            <a:r>
              <a:rPr lang="es-ES" sz="2800" b="1" dirty="0" err="1">
                <a:solidFill>
                  <a:srgbClr val="0F172A"/>
                </a:solidFill>
                <a:latin typeface="Aptos Display"/>
              </a:rPr>
              <a:t>Dockerfile</a:t>
            </a:r>
            <a:endParaRPr sz="2800" b="1" dirty="0">
              <a:solidFill>
                <a:srgbClr val="0F172A"/>
              </a:solidFill>
              <a:latin typeface="Aptos Display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F51E91-049B-4AB0-79F6-AD37A9A63668}"/>
              </a:ext>
            </a:extLst>
          </p:cNvPr>
          <p:cNvSpPr txBox="1"/>
          <p:nvPr/>
        </p:nvSpPr>
        <p:spPr>
          <a:xfrm>
            <a:off x="566928" y="868680"/>
            <a:ext cx="15893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1200" dirty="0">
                <a:solidFill>
                  <a:srgbClr val="475569"/>
                </a:solidFill>
                <a:latin typeface="Aptos"/>
              </a:rPr>
              <a:t>Armado de la imagen</a:t>
            </a:r>
            <a:endParaRPr sz="1200" dirty="0">
              <a:solidFill>
                <a:srgbClr val="475569"/>
              </a:solidFill>
              <a:latin typeface="Apto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968A3F-0FA4-BF3E-B79F-7BC84A45EBF5}"/>
              </a:ext>
            </a:extLst>
          </p:cNvPr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548A4B-D4EF-D18B-6D9A-1D1ED8232103}"/>
              </a:ext>
            </a:extLst>
          </p:cNvPr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  <a:latin typeface="Aptos"/>
              </a:rPr>
              <a:t>Ventajas: simple • Desventajas: mutable, acopla servidor y aplicación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9F942CA2-12B1-C8F0-0E95-FD08F48DD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16" y="1469781"/>
            <a:ext cx="5237114" cy="4674320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5416DFE9-E8A3-068E-6DD2-6AAA35ECF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633" y="2285990"/>
            <a:ext cx="4368800" cy="2717800"/>
          </a:xfrm>
          <a:prstGeom prst="rect">
            <a:avLst/>
          </a:prstGeom>
        </p:spPr>
      </p:pic>
      <p:sp>
        <p:nvSpPr>
          <p:cNvPr id="39" name="CuadroTexto 38">
            <a:extLst>
              <a:ext uri="{FF2B5EF4-FFF2-40B4-BE49-F238E27FC236}">
                <a16:creationId xmlns:a16="http://schemas.microsoft.com/office/drawing/2014/main" id="{0058D2E1-FD3F-0D2E-4A6F-192CB237E342}"/>
              </a:ext>
            </a:extLst>
          </p:cNvPr>
          <p:cNvSpPr txBox="1"/>
          <p:nvPr/>
        </p:nvSpPr>
        <p:spPr>
          <a:xfrm>
            <a:off x="6840638" y="5927883"/>
            <a:ext cx="304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Comprobar en </a:t>
            </a:r>
            <a:r>
              <a:rPr lang="es-CO" dirty="0" err="1"/>
              <a:t>docker</a:t>
            </a:r>
            <a:r>
              <a:rPr lang="es-CO" dirty="0"/>
              <a:t> Desktop</a:t>
            </a:r>
          </a:p>
        </p:txBody>
      </p:sp>
      <p:sp>
        <p:nvSpPr>
          <p:cNvPr id="40" name="TextBox 2">
            <a:extLst>
              <a:ext uri="{FF2B5EF4-FFF2-40B4-BE49-F238E27FC236}">
                <a16:creationId xmlns:a16="http://schemas.microsoft.com/office/drawing/2014/main" id="{1F9A0949-14BB-D8C1-B8E0-5008BFC0A2A0}"/>
              </a:ext>
            </a:extLst>
          </p:cNvPr>
          <p:cNvSpPr txBox="1"/>
          <p:nvPr/>
        </p:nvSpPr>
        <p:spPr>
          <a:xfrm>
            <a:off x="715116" y="1321987"/>
            <a:ext cx="86562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1200" dirty="0" err="1">
                <a:solidFill>
                  <a:srgbClr val="475569"/>
                </a:solidFill>
                <a:latin typeface="Aptos"/>
              </a:rPr>
              <a:t>Dockerfile</a:t>
            </a:r>
            <a:endParaRPr sz="1200" dirty="0">
              <a:solidFill>
                <a:srgbClr val="475569"/>
              </a:solidFill>
              <a:latin typeface="Aptos"/>
            </a:endParaRPr>
          </a:p>
        </p:txBody>
      </p:sp>
      <p:sp>
        <p:nvSpPr>
          <p:cNvPr id="41" name="TextBox 2">
            <a:extLst>
              <a:ext uri="{FF2B5EF4-FFF2-40B4-BE49-F238E27FC236}">
                <a16:creationId xmlns:a16="http://schemas.microsoft.com/office/drawing/2014/main" id="{F849F153-B7A5-CDAA-E689-6FBA56294550}"/>
              </a:ext>
            </a:extLst>
          </p:cNvPr>
          <p:cNvSpPr txBox="1"/>
          <p:nvPr/>
        </p:nvSpPr>
        <p:spPr>
          <a:xfrm>
            <a:off x="6574633" y="2008991"/>
            <a:ext cx="89332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1200" dirty="0" err="1">
                <a:solidFill>
                  <a:srgbClr val="475569"/>
                </a:solidFill>
                <a:latin typeface="Aptos"/>
              </a:rPr>
              <a:t>Nginx.conf</a:t>
            </a:r>
            <a:endParaRPr sz="1200" dirty="0">
              <a:solidFill>
                <a:srgbClr val="475569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672695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B7297-2EA9-4405-F360-DAFF73FB3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D68000-9737-D7EA-982F-8B7FBBD9F977}"/>
              </a:ext>
            </a:extLst>
          </p:cNvPr>
          <p:cNvSpPr txBox="1"/>
          <p:nvPr/>
        </p:nvSpPr>
        <p:spPr>
          <a:xfrm>
            <a:off x="548640" y="320040"/>
            <a:ext cx="170591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2800" b="1" dirty="0">
                <a:solidFill>
                  <a:srgbClr val="0F172A"/>
                </a:solidFill>
                <a:latin typeface="Aptos Display"/>
              </a:rPr>
              <a:t>2</a:t>
            </a:r>
            <a:r>
              <a:rPr sz="2800" b="1" dirty="0">
                <a:solidFill>
                  <a:srgbClr val="0F172A"/>
                </a:solidFill>
                <a:latin typeface="Aptos Display"/>
              </a:rPr>
              <a:t>. </a:t>
            </a:r>
            <a:r>
              <a:rPr lang="es-ES" sz="2800" b="1" dirty="0" err="1">
                <a:solidFill>
                  <a:srgbClr val="0F172A"/>
                </a:solidFill>
                <a:latin typeface="Aptos Display"/>
              </a:rPr>
              <a:t>Actions</a:t>
            </a:r>
            <a:endParaRPr sz="2800" b="1" dirty="0">
              <a:solidFill>
                <a:srgbClr val="0F172A"/>
              </a:solidFill>
              <a:latin typeface="Aptos Display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459537-08DE-AD76-B5FB-5BC3B499AE90}"/>
              </a:ext>
            </a:extLst>
          </p:cNvPr>
          <p:cNvSpPr txBox="1"/>
          <p:nvPr/>
        </p:nvSpPr>
        <p:spPr>
          <a:xfrm>
            <a:off x="566928" y="868680"/>
            <a:ext cx="173425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1200" dirty="0">
                <a:solidFill>
                  <a:srgbClr val="475569"/>
                </a:solidFill>
                <a:latin typeface="Aptos"/>
              </a:rPr>
              <a:t>Despliegue automático</a:t>
            </a:r>
            <a:endParaRPr sz="1200" dirty="0">
              <a:solidFill>
                <a:srgbClr val="475569"/>
              </a:solidFill>
              <a:latin typeface="Apto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5F13BA6-B481-F724-1943-72258DDF2932}"/>
              </a:ext>
            </a:extLst>
          </p:cNvPr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F04E41-A987-3E63-90C8-F2F4621B7724}"/>
              </a:ext>
            </a:extLst>
          </p:cNvPr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  <a:latin typeface="Aptos"/>
              </a:rPr>
              <a:t>Ventajas: simple • Desventajas: mutable, acopla servidor y aplicación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286A038-2CF2-8AE1-93BD-C1FA40FF2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225" y="473079"/>
            <a:ext cx="4363705" cy="5911842"/>
          </a:xfrm>
          <a:prstGeom prst="rect">
            <a:avLst/>
          </a:prstGeom>
        </p:spPr>
      </p:pic>
      <p:grpSp>
        <p:nvGrpSpPr>
          <p:cNvPr id="13" name="Grupo 12">
            <a:extLst>
              <a:ext uri="{FF2B5EF4-FFF2-40B4-BE49-F238E27FC236}">
                <a16:creationId xmlns:a16="http://schemas.microsoft.com/office/drawing/2014/main" id="{B4D58A6F-4B38-BED8-B8EC-83516C2C4501}"/>
              </a:ext>
            </a:extLst>
          </p:cNvPr>
          <p:cNvGrpSpPr/>
          <p:nvPr/>
        </p:nvGrpSpPr>
        <p:grpSpPr>
          <a:xfrm>
            <a:off x="7095281" y="2840677"/>
            <a:ext cx="4986840" cy="1910845"/>
            <a:chOff x="6967004" y="2840677"/>
            <a:chExt cx="4986840" cy="1910845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66AE86DC-8907-44DA-EED2-94677C0300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7004" y="2840677"/>
              <a:ext cx="4986840" cy="1910845"/>
            </a:xfrm>
            <a:prstGeom prst="rect">
              <a:avLst/>
            </a:prstGeom>
          </p:spPr>
        </p:pic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66874E5B-19DD-F22F-8F90-0568D764D8B5}"/>
                </a:ext>
              </a:extLst>
            </p:cNvPr>
            <p:cNvSpPr/>
            <p:nvPr/>
          </p:nvSpPr>
          <p:spPr>
            <a:xfrm>
              <a:off x="7572302" y="3175152"/>
              <a:ext cx="541552" cy="169932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2" name="TextBox 2">
            <a:extLst>
              <a:ext uri="{FF2B5EF4-FFF2-40B4-BE49-F238E27FC236}">
                <a16:creationId xmlns:a16="http://schemas.microsoft.com/office/drawing/2014/main" id="{F2A4E5EE-D644-E030-D64B-BC8AB39549E0}"/>
              </a:ext>
            </a:extLst>
          </p:cNvPr>
          <p:cNvSpPr txBox="1"/>
          <p:nvPr/>
        </p:nvSpPr>
        <p:spPr>
          <a:xfrm>
            <a:off x="566928" y="1068778"/>
            <a:ext cx="206261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CO" sz="1200" dirty="0"/>
              <a:t>.</a:t>
            </a:r>
            <a:r>
              <a:rPr lang="es-CO" sz="1200" dirty="0" err="1"/>
              <a:t>github</a:t>
            </a:r>
            <a:r>
              <a:rPr lang="es-CO" sz="1200" dirty="0"/>
              <a:t>/</a:t>
            </a:r>
            <a:r>
              <a:rPr lang="es-CO" sz="1200" dirty="0" err="1"/>
              <a:t>workflows</a:t>
            </a:r>
            <a:r>
              <a:rPr lang="es-CO" sz="1200" dirty="0"/>
              <a:t>/</a:t>
            </a:r>
            <a:r>
              <a:rPr lang="es-CO" sz="1200" dirty="0" err="1"/>
              <a:t>deploy.yml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822472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3DFEB-FADE-34FF-473A-E32A753F4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9F21D2-0063-8C99-FB91-AFBC4A657C7D}"/>
              </a:ext>
            </a:extLst>
          </p:cNvPr>
          <p:cNvSpPr txBox="1"/>
          <p:nvPr/>
        </p:nvSpPr>
        <p:spPr>
          <a:xfrm>
            <a:off x="548640" y="320040"/>
            <a:ext cx="78197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2800" b="1" dirty="0">
                <a:solidFill>
                  <a:srgbClr val="0F172A"/>
                </a:solidFill>
                <a:latin typeface="Aptos Display"/>
              </a:rPr>
              <a:t>4</a:t>
            </a:r>
            <a:r>
              <a:rPr sz="2800" b="1" dirty="0">
                <a:solidFill>
                  <a:srgbClr val="0F172A"/>
                </a:solidFill>
                <a:latin typeface="Aptos Display"/>
              </a:rPr>
              <a:t>. </a:t>
            </a:r>
            <a:r>
              <a:rPr lang="es-ES" sz="2800" b="1" dirty="0" err="1">
                <a:solidFill>
                  <a:srgbClr val="0F172A"/>
                </a:solidFill>
                <a:latin typeface="Aptos Display"/>
              </a:rPr>
              <a:t>Deployment</a:t>
            </a:r>
            <a:r>
              <a:rPr lang="es-ES" sz="2800" b="1" dirty="0">
                <a:solidFill>
                  <a:srgbClr val="0F172A"/>
                </a:solidFill>
                <a:latin typeface="Aptos Display"/>
              </a:rPr>
              <a:t>/</a:t>
            </a:r>
            <a:r>
              <a:rPr lang="es-ES" sz="2800" b="1" dirty="0" err="1">
                <a:solidFill>
                  <a:srgbClr val="0F172A"/>
                </a:solidFill>
                <a:latin typeface="Aptos Display"/>
              </a:rPr>
              <a:t>Service</a:t>
            </a:r>
            <a:r>
              <a:rPr lang="es-ES" sz="2800" b="1" dirty="0">
                <a:solidFill>
                  <a:srgbClr val="0F172A"/>
                </a:solidFill>
                <a:latin typeface="Aptos Display"/>
              </a:rPr>
              <a:t>/</a:t>
            </a:r>
            <a:r>
              <a:rPr lang="es-ES" sz="2800" b="1" dirty="0" err="1">
                <a:solidFill>
                  <a:srgbClr val="0F172A"/>
                </a:solidFill>
                <a:latin typeface="Aptos Display"/>
              </a:rPr>
              <a:t>Ingress</a:t>
            </a:r>
            <a:r>
              <a:rPr lang="es-ES" sz="2800" b="1" dirty="0">
                <a:solidFill>
                  <a:srgbClr val="0F172A"/>
                </a:solidFill>
                <a:latin typeface="Aptos Display"/>
              </a:rPr>
              <a:t>: </a:t>
            </a:r>
            <a:r>
              <a:rPr lang="es-ES" sz="2800" b="1" dirty="0" err="1">
                <a:solidFill>
                  <a:srgbClr val="0F172A"/>
                </a:solidFill>
                <a:latin typeface="Aptos Display"/>
              </a:rPr>
              <a:t>deployment.yaml</a:t>
            </a:r>
            <a:r>
              <a:rPr lang="es-ES" sz="2800" b="1" dirty="0">
                <a:solidFill>
                  <a:srgbClr val="0F172A"/>
                </a:solidFill>
                <a:latin typeface="Aptos Display"/>
              </a:rPr>
              <a:t> </a:t>
            </a:r>
            <a:endParaRPr sz="2800" b="1" dirty="0">
              <a:solidFill>
                <a:srgbClr val="0F172A"/>
              </a:solidFill>
              <a:latin typeface="Aptos Display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FCBD23-F35C-3CCD-AB81-3BDA31089331}"/>
              </a:ext>
            </a:extLst>
          </p:cNvPr>
          <p:cNvSpPr txBox="1"/>
          <p:nvPr/>
        </p:nvSpPr>
        <p:spPr>
          <a:xfrm>
            <a:off x="566928" y="868680"/>
            <a:ext cx="4411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1200" dirty="0">
                <a:solidFill>
                  <a:srgbClr val="475569"/>
                </a:solidFill>
                <a:latin typeface="Aptos"/>
              </a:rPr>
              <a:t>K8S</a:t>
            </a:r>
            <a:endParaRPr sz="1200" dirty="0">
              <a:solidFill>
                <a:srgbClr val="475569"/>
              </a:solidFill>
              <a:latin typeface="Apto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6E7FAD-4BA2-4633-D90F-B8932F5749A5}"/>
              </a:ext>
            </a:extLst>
          </p:cNvPr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936443-1CE3-5A36-F46B-D6CD8475CA0E}"/>
              </a:ext>
            </a:extLst>
          </p:cNvPr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  <a:latin typeface="Aptos"/>
              </a:rPr>
              <a:t>Ventajas: simple • Desventajas: mutable, acopla servidor y aplicación</a:t>
            </a:r>
          </a:p>
        </p:txBody>
      </p:sp>
      <p:sp>
        <p:nvSpPr>
          <p:cNvPr id="4" name="Rounded Rectangle 10">
            <a:extLst>
              <a:ext uri="{FF2B5EF4-FFF2-40B4-BE49-F238E27FC236}">
                <a16:creationId xmlns:a16="http://schemas.microsoft.com/office/drawing/2014/main" id="{58177C39-5CAA-751C-A7FB-9D040E5FCEDA}"/>
              </a:ext>
            </a:extLst>
          </p:cNvPr>
          <p:cNvSpPr/>
          <p:nvPr/>
        </p:nvSpPr>
        <p:spPr>
          <a:xfrm>
            <a:off x="1210758" y="1375738"/>
            <a:ext cx="2692157" cy="4613582"/>
          </a:xfrm>
          <a:prstGeom prst="roundRect">
            <a:avLst>
              <a:gd name="adj" fmla="val 2340"/>
            </a:avLst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sz="1200" dirty="0" err="1"/>
              <a:t>apiVersion</a:t>
            </a:r>
            <a:r>
              <a:rPr lang="es-CO" sz="1200" dirty="0"/>
              <a:t>: apps/v1</a:t>
            </a:r>
          </a:p>
          <a:p>
            <a:r>
              <a:rPr lang="es-CO" sz="1200" dirty="0" err="1"/>
              <a:t>kind</a:t>
            </a:r>
            <a:r>
              <a:rPr lang="es-CO" sz="1200" dirty="0"/>
              <a:t>: </a:t>
            </a:r>
            <a:r>
              <a:rPr lang="es-CO" sz="1200" dirty="0" err="1"/>
              <a:t>Deployment</a:t>
            </a:r>
            <a:endParaRPr lang="es-CO" sz="1200" dirty="0"/>
          </a:p>
          <a:p>
            <a:r>
              <a:rPr lang="es-CO" sz="1200" dirty="0" err="1"/>
              <a:t>metadata</a:t>
            </a:r>
            <a:r>
              <a:rPr lang="es-CO" sz="1200" dirty="0"/>
              <a:t>:</a:t>
            </a:r>
          </a:p>
          <a:p>
            <a:r>
              <a:rPr lang="es-CO" sz="1200" dirty="0"/>
              <a:t>  </a:t>
            </a:r>
            <a:r>
              <a:rPr lang="es-CO" sz="1200" dirty="0" err="1"/>
              <a:t>name</a:t>
            </a:r>
            <a:r>
              <a:rPr lang="es-CO" sz="1200" dirty="0"/>
              <a:t>: &lt;nombre&gt;</a:t>
            </a:r>
          </a:p>
          <a:p>
            <a:r>
              <a:rPr lang="es-CO" sz="1200" dirty="0"/>
              <a:t>  </a:t>
            </a:r>
            <a:r>
              <a:rPr lang="es-CO" sz="1200" dirty="0" err="1"/>
              <a:t>namespace</a:t>
            </a:r>
            <a:r>
              <a:rPr lang="es-CO" sz="1200" dirty="0"/>
              <a:t>: &lt;</a:t>
            </a:r>
            <a:r>
              <a:rPr lang="es-CO" sz="1200" dirty="0" err="1"/>
              <a:t>namespace</a:t>
            </a:r>
            <a:r>
              <a:rPr lang="es-CO" sz="1200" dirty="0"/>
              <a:t>&gt;</a:t>
            </a:r>
          </a:p>
          <a:p>
            <a:r>
              <a:rPr lang="es-CO" sz="1200" dirty="0"/>
              <a:t>  </a:t>
            </a:r>
            <a:r>
              <a:rPr lang="es-CO" sz="1200" dirty="0" err="1"/>
              <a:t>labels</a:t>
            </a:r>
            <a:r>
              <a:rPr lang="es-CO" sz="1200" dirty="0"/>
              <a:t>:</a:t>
            </a:r>
          </a:p>
          <a:p>
            <a:r>
              <a:rPr lang="es-CO" sz="1200" dirty="0"/>
              <a:t>    app: angular-app</a:t>
            </a:r>
          </a:p>
          <a:p>
            <a:r>
              <a:rPr lang="es-CO" sz="1200" dirty="0" err="1"/>
              <a:t>spec</a:t>
            </a:r>
            <a:r>
              <a:rPr lang="es-CO" sz="1200" dirty="0"/>
              <a:t>:</a:t>
            </a:r>
          </a:p>
          <a:p>
            <a:r>
              <a:rPr lang="es-CO" sz="1200" dirty="0"/>
              <a:t>  replicas: 1</a:t>
            </a:r>
          </a:p>
          <a:p>
            <a:r>
              <a:rPr lang="es-CO" sz="1200" dirty="0"/>
              <a:t>  selector:</a:t>
            </a:r>
          </a:p>
          <a:p>
            <a:r>
              <a:rPr lang="es-CO" sz="1200" dirty="0"/>
              <a:t>    </a:t>
            </a:r>
            <a:r>
              <a:rPr lang="es-CO" sz="1200" dirty="0" err="1"/>
              <a:t>matchLabels</a:t>
            </a:r>
            <a:r>
              <a:rPr lang="es-CO" sz="1200" dirty="0"/>
              <a:t>:</a:t>
            </a:r>
          </a:p>
          <a:p>
            <a:r>
              <a:rPr lang="es-CO" sz="1200" dirty="0"/>
              <a:t>      app: &lt;nombre&gt;</a:t>
            </a:r>
          </a:p>
          <a:p>
            <a:r>
              <a:rPr lang="es-CO" sz="1200" dirty="0"/>
              <a:t>  </a:t>
            </a:r>
            <a:r>
              <a:rPr lang="es-CO" sz="1200" dirty="0" err="1"/>
              <a:t>template</a:t>
            </a:r>
            <a:r>
              <a:rPr lang="es-CO" sz="1200" dirty="0"/>
              <a:t>:</a:t>
            </a:r>
          </a:p>
          <a:p>
            <a:r>
              <a:rPr lang="es-CO" sz="1200" dirty="0"/>
              <a:t>    </a:t>
            </a:r>
            <a:r>
              <a:rPr lang="es-CO" sz="1200" dirty="0" err="1"/>
              <a:t>metadata</a:t>
            </a:r>
            <a:r>
              <a:rPr lang="es-CO" sz="1200" dirty="0"/>
              <a:t>:</a:t>
            </a:r>
          </a:p>
          <a:p>
            <a:r>
              <a:rPr lang="es-CO" sz="1200" dirty="0"/>
              <a:t>      </a:t>
            </a:r>
            <a:r>
              <a:rPr lang="es-CO" sz="1200" dirty="0" err="1"/>
              <a:t>labels</a:t>
            </a:r>
            <a:r>
              <a:rPr lang="es-CO" sz="1200" dirty="0"/>
              <a:t>:</a:t>
            </a:r>
          </a:p>
          <a:p>
            <a:r>
              <a:rPr lang="es-CO" sz="1200" dirty="0"/>
              <a:t>        app: &lt;nombre&gt;</a:t>
            </a:r>
          </a:p>
          <a:p>
            <a:r>
              <a:rPr lang="es-CO" sz="1200" dirty="0"/>
              <a:t>    </a:t>
            </a:r>
            <a:r>
              <a:rPr lang="es-CO" sz="1200" dirty="0" err="1"/>
              <a:t>spec</a:t>
            </a:r>
            <a:r>
              <a:rPr lang="es-CO" sz="1200" dirty="0"/>
              <a:t>:</a:t>
            </a:r>
          </a:p>
          <a:p>
            <a:r>
              <a:rPr lang="es-CO" sz="1200" dirty="0"/>
              <a:t>      </a:t>
            </a:r>
            <a:r>
              <a:rPr lang="es-CO" sz="1200" dirty="0" err="1"/>
              <a:t>containers</a:t>
            </a:r>
            <a:r>
              <a:rPr lang="es-CO" sz="1200" dirty="0"/>
              <a:t>:</a:t>
            </a:r>
          </a:p>
          <a:p>
            <a:r>
              <a:rPr lang="es-CO" sz="1200" dirty="0"/>
              <a:t>        - </a:t>
            </a:r>
            <a:r>
              <a:rPr lang="es-CO" sz="1200" dirty="0" err="1"/>
              <a:t>name</a:t>
            </a:r>
            <a:r>
              <a:rPr lang="es-CO" sz="1200" dirty="0"/>
              <a:t>: angular-app</a:t>
            </a:r>
          </a:p>
          <a:p>
            <a:r>
              <a:rPr lang="es-CO" sz="1200" dirty="0"/>
              <a:t>          </a:t>
            </a:r>
            <a:r>
              <a:rPr lang="es-CO" sz="1200" dirty="0" err="1"/>
              <a:t>image</a:t>
            </a:r>
            <a:r>
              <a:rPr lang="es-CO" sz="1200" dirty="0"/>
              <a:t>: &lt;</a:t>
            </a:r>
            <a:r>
              <a:rPr lang="es-CO" sz="1200" dirty="0" err="1"/>
              <a:t>url</a:t>
            </a:r>
            <a:r>
              <a:rPr lang="es-CO" sz="1200" dirty="0"/>
              <a:t> imagen&gt;:</a:t>
            </a:r>
            <a:r>
              <a:rPr lang="es-CO" sz="1200" dirty="0" err="1"/>
              <a:t>latest</a:t>
            </a:r>
            <a:endParaRPr lang="es-CO" sz="1200" dirty="0"/>
          </a:p>
          <a:p>
            <a:r>
              <a:rPr lang="es-CO" sz="1200" dirty="0"/>
              <a:t>          </a:t>
            </a:r>
            <a:r>
              <a:rPr lang="es-CO" sz="1200" dirty="0" err="1"/>
              <a:t>ports</a:t>
            </a:r>
            <a:r>
              <a:rPr lang="es-CO" sz="1200" dirty="0"/>
              <a:t>:</a:t>
            </a:r>
          </a:p>
          <a:p>
            <a:r>
              <a:rPr lang="es-CO" sz="1200" dirty="0"/>
              <a:t>            - </a:t>
            </a:r>
            <a:r>
              <a:rPr lang="es-CO" sz="1200" dirty="0" err="1"/>
              <a:t>containerPort</a:t>
            </a:r>
            <a:r>
              <a:rPr lang="es-CO" sz="1200" dirty="0"/>
              <a:t>: 80</a:t>
            </a:r>
          </a:p>
          <a:p>
            <a:r>
              <a:rPr lang="es-CO" sz="1200" dirty="0"/>
              <a:t>      </a:t>
            </a:r>
            <a:r>
              <a:rPr lang="es-CO" sz="1200" dirty="0" err="1"/>
              <a:t>imagePullSecrets</a:t>
            </a:r>
            <a:r>
              <a:rPr lang="es-CO" sz="1200" dirty="0"/>
              <a:t>:</a:t>
            </a:r>
          </a:p>
          <a:p>
            <a:r>
              <a:rPr lang="es-CO" sz="1200" dirty="0"/>
              <a:t>        - </a:t>
            </a:r>
            <a:r>
              <a:rPr lang="es-CO" sz="1200" dirty="0" err="1"/>
              <a:t>name</a:t>
            </a:r>
            <a:r>
              <a:rPr lang="es-CO" sz="1200" dirty="0"/>
              <a:t>: </a:t>
            </a:r>
            <a:r>
              <a:rPr lang="es-CO" sz="1200" dirty="0" err="1"/>
              <a:t>ghcr-secret</a:t>
            </a:r>
            <a:endParaRPr sz="1200" dirty="0"/>
          </a:p>
        </p:txBody>
      </p:sp>
      <p:sp>
        <p:nvSpPr>
          <p:cNvPr id="5" name="Rounded Rectangle 10">
            <a:extLst>
              <a:ext uri="{FF2B5EF4-FFF2-40B4-BE49-F238E27FC236}">
                <a16:creationId xmlns:a16="http://schemas.microsoft.com/office/drawing/2014/main" id="{33E647AA-76AC-1B8F-A88A-DC5C45E0D6E8}"/>
              </a:ext>
            </a:extLst>
          </p:cNvPr>
          <p:cNvSpPr/>
          <p:nvPr/>
        </p:nvSpPr>
        <p:spPr>
          <a:xfrm>
            <a:off x="4241543" y="1375738"/>
            <a:ext cx="2506036" cy="3296610"/>
          </a:xfrm>
          <a:prstGeom prst="roundRect">
            <a:avLst>
              <a:gd name="adj" fmla="val 2340"/>
            </a:avLst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sz="1200" dirty="0" err="1"/>
              <a:t>apiVersion</a:t>
            </a:r>
            <a:r>
              <a:rPr lang="es-CO" sz="1200" dirty="0"/>
              <a:t>: v1</a:t>
            </a:r>
          </a:p>
          <a:p>
            <a:r>
              <a:rPr lang="es-CO" sz="1200" dirty="0" err="1"/>
              <a:t>kind</a:t>
            </a:r>
            <a:r>
              <a:rPr lang="es-CO" sz="1200" dirty="0"/>
              <a:t>: </a:t>
            </a:r>
            <a:r>
              <a:rPr lang="es-CO" sz="1200" dirty="0" err="1"/>
              <a:t>Service</a:t>
            </a:r>
            <a:endParaRPr lang="es-CO" sz="1200" dirty="0"/>
          </a:p>
          <a:p>
            <a:r>
              <a:rPr lang="es-CO" sz="1200" dirty="0" err="1"/>
              <a:t>metadata</a:t>
            </a:r>
            <a:r>
              <a:rPr lang="es-CO" sz="1200" dirty="0"/>
              <a:t>:</a:t>
            </a:r>
          </a:p>
          <a:p>
            <a:r>
              <a:rPr lang="es-CO" sz="1200" dirty="0"/>
              <a:t>  </a:t>
            </a:r>
            <a:r>
              <a:rPr lang="es-CO" sz="1200" dirty="0" err="1"/>
              <a:t>name</a:t>
            </a:r>
            <a:r>
              <a:rPr lang="es-CO" sz="1200" dirty="0"/>
              <a:t>: &lt;nombre&gt;</a:t>
            </a:r>
          </a:p>
          <a:p>
            <a:r>
              <a:rPr lang="es-CO" sz="1200" dirty="0"/>
              <a:t>  </a:t>
            </a:r>
            <a:r>
              <a:rPr lang="es-CO" sz="1200" dirty="0" err="1"/>
              <a:t>namespace</a:t>
            </a:r>
            <a:r>
              <a:rPr lang="es-CO" sz="1200" dirty="0"/>
              <a:t>: &lt;</a:t>
            </a:r>
            <a:r>
              <a:rPr lang="es-CO" sz="1200" dirty="0" err="1"/>
              <a:t>namespace</a:t>
            </a:r>
            <a:r>
              <a:rPr lang="es-CO" sz="1200" dirty="0"/>
              <a:t>&gt;</a:t>
            </a:r>
          </a:p>
          <a:p>
            <a:r>
              <a:rPr lang="es-CO" sz="1200" dirty="0"/>
              <a:t>  </a:t>
            </a:r>
            <a:r>
              <a:rPr lang="es-CO" sz="1200" dirty="0" err="1"/>
              <a:t>labels</a:t>
            </a:r>
            <a:r>
              <a:rPr lang="es-CO" sz="1200" dirty="0"/>
              <a:t>:</a:t>
            </a:r>
          </a:p>
          <a:p>
            <a:r>
              <a:rPr lang="es-CO" sz="1200" dirty="0"/>
              <a:t>    app: &lt;nombre&gt;</a:t>
            </a:r>
          </a:p>
          <a:p>
            <a:r>
              <a:rPr lang="es-CO" sz="1200" dirty="0" err="1"/>
              <a:t>spec</a:t>
            </a:r>
            <a:r>
              <a:rPr lang="es-CO" sz="1200" dirty="0"/>
              <a:t>:</a:t>
            </a:r>
          </a:p>
          <a:p>
            <a:r>
              <a:rPr lang="es-CO" sz="1200" dirty="0"/>
              <a:t>  selector:</a:t>
            </a:r>
          </a:p>
          <a:p>
            <a:r>
              <a:rPr lang="es-CO" sz="1200" dirty="0"/>
              <a:t>    app: &lt;nombre&gt;</a:t>
            </a:r>
          </a:p>
          <a:p>
            <a:r>
              <a:rPr lang="es-CO" sz="1200" dirty="0"/>
              <a:t>  </a:t>
            </a:r>
            <a:r>
              <a:rPr lang="es-CO" sz="1200" dirty="0" err="1"/>
              <a:t>ports</a:t>
            </a:r>
            <a:r>
              <a:rPr lang="es-CO" sz="1200" dirty="0"/>
              <a:t>:</a:t>
            </a:r>
          </a:p>
          <a:p>
            <a:r>
              <a:rPr lang="es-CO" sz="1200" dirty="0"/>
              <a:t>    - </a:t>
            </a:r>
            <a:r>
              <a:rPr lang="es-CO" sz="1200" dirty="0" err="1"/>
              <a:t>protocol</a:t>
            </a:r>
            <a:r>
              <a:rPr lang="es-CO" sz="1200" dirty="0"/>
              <a:t>: TCP</a:t>
            </a:r>
          </a:p>
          <a:p>
            <a:r>
              <a:rPr lang="es-CO" sz="1200" dirty="0"/>
              <a:t>      </a:t>
            </a:r>
            <a:r>
              <a:rPr lang="es-CO" sz="1200" dirty="0" err="1"/>
              <a:t>port</a:t>
            </a:r>
            <a:r>
              <a:rPr lang="es-CO" sz="1200" dirty="0"/>
              <a:t>: 80</a:t>
            </a:r>
          </a:p>
          <a:p>
            <a:r>
              <a:rPr lang="es-CO" sz="1200" dirty="0"/>
              <a:t>      </a:t>
            </a:r>
            <a:r>
              <a:rPr lang="es-CO" sz="1200" dirty="0" err="1"/>
              <a:t>targetPort</a:t>
            </a:r>
            <a:r>
              <a:rPr lang="es-CO" sz="1200" dirty="0"/>
              <a:t>: 80</a:t>
            </a:r>
          </a:p>
          <a:p>
            <a:r>
              <a:rPr lang="es-CO" sz="1200" dirty="0"/>
              <a:t>  </a:t>
            </a:r>
            <a:r>
              <a:rPr lang="es-CO" sz="1200" dirty="0" err="1"/>
              <a:t>type</a:t>
            </a:r>
            <a:r>
              <a:rPr lang="es-CO" sz="1200" dirty="0"/>
              <a:t>: </a:t>
            </a:r>
            <a:r>
              <a:rPr lang="es-CO" sz="1200" dirty="0" err="1"/>
              <a:t>ClusterIP</a:t>
            </a:r>
            <a:endParaRPr sz="1200" dirty="0"/>
          </a:p>
        </p:txBody>
      </p:sp>
      <p:sp>
        <p:nvSpPr>
          <p:cNvPr id="6" name="Rounded Rectangle 10">
            <a:extLst>
              <a:ext uri="{FF2B5EF4-FFF2-40B4-BE49-F238E27FC236}">
                <a16:creationId xmlns:a16="http://schemas.microsoft.com/office/drawing/2014/main" id="{55239279-497B-6457-5E9F-7AD7E2627C7F}"/>
              </a:ext>
            </a:extLst>
          </p:cNvPr>
          <p:cNvSpPr/>
          <p:nvPr/>
        </p:nvSpPr>
        <p:spPr>
          <a:xfrm>
            <a:off x="7036069" y="1375738"/>
            <a:ext cx="3945173" cy="4088670"/>
          </a:xfrm>
          <a:prstGeom prst="roundRect">
            <a:avLst>
              <a:gd name="adj" fmla="val 2340"/>
            </a:avLst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sz="1200" dirty="0" err="1"/>
              <a:t>apiVersion</a:t>
            </a:r>
            <a:r>
              <a:rPr lang="es-CO" sz="1200" dirty="0"/>
              <a:t>: networking.k8s.io/v1</a:t>
            </a:r>
          </a:p>
          <a:p>
            <a:r>
              <a:rPr lang="es-CO" sz="1200" dirty="0" err="1"/>
              <a:t>kind</a:t>
            </a:r>
            <a:r>
              <a:rPr lang="es-CO" sz="1200" dirty="0"/>
              <a:t>: </a:t>
            </a:r>
            <a:r>
              <a:rPr lang="es-CO" sz="1200" dirty="0" err="1"/>
              <a:t>Ingress</a:t>
            </a:r>
            <a:endParaRPr lang="es-CO" sz="1200" dirty="0"/>
          </a:p>
          <a:p>
            <a:r>
              <a:rPr lang="es-CO" sz="1200" dirty="0" err="1"/>
              <a:t>metadata</a:t>
            </a:r>
            <a:r>
              <a:rPr lang="es-CO" sz="1200" dirty="0"/>
              <a:t>:</a:t>
            </a:r>
          </a:p>
          <a:p>
            <a:r>
              <a:rPr lang="es-CO" sz="1200" dirty="0"/>
              <a:t>  </a:t>
            </a:r>
            <a:r>
              <a:rPr lang="es-CO" sz="1200" dirty="0" err="1"/>
              <a:t>name</a:t>
            </a:r>
            <a:r>
              <a:rPr lang="es-CO" sz="1200" dirty="0"/>
              <a:t>: &lt;nombre&gt;</a:t>
            </a:r>
          </a:p>
          <a:p>
            <a:r>
              <a:rPr lang="es-CO" sz="1200" dirty="0"/>
              <a:t>  </a:t>
            </a:r>
            <a:r>
              <a:rPr lang="es-CO" sz="1200" dirty="0" err="1"/>
              <a:t>namespace</a:t>
            </a:r>
            <a:r>
              <a:rPr lang="es-CO" sz="1200" dirty="0"/>
              <a:t>: &lt;</a:t>
            </a:r>
            <a:r>
              <a:rPr lang="es-CO" sz="1200" dirty="0" err="1"/>
              <a:t>namespace</a:t>
            </a:r>
            <a:r>
              <a:rPr lang="es-CO" sz="1200" dirty="0"/>
              <a:t>&gt;</a:t>
            </a:r>
          </a:p>
          <a:p>
            <a:r>
              <a:rPr lang="es-CO" sz="1200" dirty="0"/>
              <a:t>  </a:t>
            </a:r>
            <a:r>
              <a:rPr lang="es-CO" sz="1200" dirty="0" err="1"/>
              <a:t>annotations</a:t>
            </a:r>
            <a:r>
              <a:rPr lang="es-CO" sz="1200" dirty="0"/>
              <a:t>:</a:t>
            </a:r>
          </a:p>
          <a:p>
            <a:r>
              <a:rPr lang="es-CO" sz="1200" dirty="0"/>
              <a:t>    </a:t>
            </a:r>
            <a:r>
              <a:rPr lang="es-CO" sz="1200" dirty="0" err="1"/>
              <a:t>nginx.ingress.kubernetes.io</a:t>
            </a:r>
            <a:r>
              <a:rPr lang="es-CO" sz="1200" dirty="0"/>
              <a:t>/</a:t>
            </a:r>
            <a:r>
              <a:rPr lang="es-CO" sz="1200" dirty="0" err="1"/>
              <a:t>rewrite</a:t>
            </a:r>
            <a:r>
              <a:rPr lang="es-CO" sz="1200" dirty="0"/>
              <a:t>-target: /</a:t>
            </a:r>
          </a:p>
          <a:p>
            <a:r>
              <a:rPr lang="es-CO" sz="1200" dirty="0" err="1"/>
              <a:t>spec</a:t>
            </a:r>
            <a:r>
              <a:rPr lang="es-CO" sz="1200" dirty="0"/>
              <a:t>:</a:t>
            </a:r>
          </a:p>
          <a:p>
            <a:r>
              <a:rPr lang="es-CO" sz="1200" dirty="0"/>
              <a:t>  </a:t>
            </a:r>
            <a:r>
              <a:rPr lang="es-CO" sz="1200" dirty="0" err="1"/>
              <a:t>ingressClassName</a:t>
            </a:r>
            <a:r>
              <a:rPr lang="es-CO" sz="1200" dirty="0"/>
              <a:t>: </a:t>
            </a:r>
            <a:r>
              <a:rPr lang="es-CO" sz="1200" dirty="0" err="1"/>
              <a:t>nginx</a:t>
            </a:r>
            <a:endParaRPr lang="es-CO" sz="1200" dirty="0"/>
          </a:p>
          <a:p>
            <a:r>
              <a:rPr lang="es-CO" sz="1200" dirty="0"/>
              <a:t>  rules:</a:t>
            </a:r>
          </a:p>
          <a:p>
            <a:r>
              <a:rPr lang="es-CO" sz="1200" dirty="0"/>
              <a:t>    - host: &lt;</a:t>
            </a:r>
            <a:r>
              <a:rPr lang="es-CO" sz="1200" dirty="0" err="1"/>
              <a:t>namespace</a:t>
            </a:r>
            <a:r>
              <a:rPr lang="es-CO" sz="1200" dirty="0"/>
              <a:t>&gt;.</a:t>
            </a:r>
            <a:r>
              <a:rPr lang="es-CO" sz="1200" dirty="0" err="1"/>
              <a:t>inphotech.co</a:t>
            </a:r>
            <a:endParaRPr lang="es-CO" sz="1200" dirty="0"/>
          </a:p>
          <a:p>
            <a:r>
              <a:rPr lang="es-CO" sz="1200" dirty="0"/>
              <a:t>      http:</a:t>
            </a:r>
          </a:p>
          <a:p>
            <a:r>
              <a:rPr lang="es-CO" sz="1200" dirty="0"/>
              <a:t>        </a:t>
            </a:r>
            <a:r>
              <a:rPr lang="es-CO" sz="1200" dirty="0" err="1"/>
              <a:t>paths</a:t>
            </a:r>
            <a:r>
              <a:rPr lang="es-CO" sz="1200" dirty="0"/>
              <a:t>:</a:t>
            </a:r>
          </a:p>
          <a:p>
            <a:r>
              <a:rPr lang="es-CO" sz="1200" dirty="0"/>
              <a:t>          - </a:t>
            </a:r>
            <a:r>
              <a:rPr lang="es-CO" sz="1200" dirty="0" err="1"/>
              <a:t>path</a:t>
            </a:r>
            <a:r>
              <a:rPr lang="es-CO" sz="1200" dirty="0"/>
              <a:t>: /</a:t>
            </a:r>
          </a:p>
          <a:p>
            <a:r>
              <a:rPr lang="es-CO" sz="1200" dirty="0"/>
              <a:t>            </a:t>
            </a:r>
            <a:r>
              <a:rPr lang="es-CO" sz="1200" dirty="0" err="1"/>
              <a:t>pathType</a:t>
            </a:r>
            <a:r>
              <a:rPr lang="es-CO" sz="1200" dirty="0"/>
              <a:t>: </a:t>
            </a:r>
            <a:r>
              <a:rPr lang="es-CO" sz="1200" dirty="0" err="1"/>
              <a:t>Prefix</a:t>
            </a:r>
            <a:endParaRPr lang="es-CO" sz="1200" dirty="0"/>
          </a:p>
          <a:p>
            <a:r>
              <a:rPr lang="es-CO" sz="1200" dirty="0"/>
              <a:t>            </a:t>
            </a:r>
            <a:r>
              <a:rPr lang="es-CO" sz="1200" dirty="0" err="1"/>
              <a:t>backend</a:t>
            </a:r>
            <a:r>
              <a:rPr lang="es-CO" sz="1200" dirty="0"/>
              <a:t>:</a:t>
            </a:r>
          </a:p>
          <a:p>
            <a:r>
              <a:rPr lang="es-CO" sz="1200" dirty="0"/>
              <a:t>              </a:t>
            </a:r>
            <a:r>
              <a:rPr lang="es-CO" sz="1200" dirty="0" err="1"/>
              <a:t>service</a:t>
            </a:r>
            <a:r>
              <a:rPr lang="es-CO" sz="1200" dirty="0"/>
              <a:t>:</a:t>
            </a:r>
          </a:p>
          <a:p>
            <a:r>
              <a:rPr lang="es-CO" sz="1200" dirty="0"/>
              <a:t>                </a:t>
            </a:r>
            <a:r>
              <a:rPr lang="es-CO" sz="1200" dirty="0" err="1"/>
              <a:t>name</a:t>
            </a:r>
            <a:r>
              <a:rPr lang="es-CO" sz="1200" dirty="0"/>
              <a:t>: &lt;nombre&gt;</a:t>
            </a:r>
          </a:p>
          <a:p>
            <a:r>
              <a:rPr lang="es-CO" sz="1200" dirty="0"/>
              <a:t>                </a:t>
            </a:r>
            <a:r>
              <a:rPr lang="es-CO" sz="1200" dirty="0" err="1"/>
              <a:t>port</a:t>
            </a:r>
            <a:r>
              <a:rPr lang="es-CO" sz="1200" dirty="0"/>
              <a:t>:</a:t>
            </a:r>
          </a:p>
          <a:p>
            <a:r>
              <a:rPr lang="es-CO" sz="1200" dirty="0"/>
              <a:t>                  </a:t>
            </a:r>
            <a:r>
              <a:rPr lang="es-CO" sz="1200" dirty="0" err="1"/>
              <a:t>number</a:t>
            </a:r>
            <a:r>
              <a:rPr lang="es-CO" sz="1200" dirty="0"/>
              <a:t>: 80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4191462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374</Words>
  <Application>Microsoft Macintosh PowerPoint</Application>
  <PresentationFormat>Panorámica</PresentationFormat>
  <Paragraphs>83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Pablo Andres Marquez Fernandez</cp:lastModifiedBy>
  <cp:revision>7</cp:revision>
  <dcterms:created xsi:type="dcterms:W3CDTF">2013-01-27T09:14:16Z</dcterms:created>
  <dcterms:modified xsi:type="dcterms:W3CDTF">2026-04-23T19:01:01Z</dcterms:modified>
  <cp:category/>
</cp:coreProperties>
</file>